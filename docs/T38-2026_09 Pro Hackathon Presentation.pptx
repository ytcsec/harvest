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40ce21a80_2_2:notes"/>
          <p:cNvSpPr/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g3f40ce21a80_2_2:notes"/>
          <p:cNvSpPr txBox="1"/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55" name="Google Shape;55;g3f40ce21a80_2_2:notes"/>
          <p:cNvSpPr txBox="1"/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</a:fld>
            <a:endParaRPr sz="9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40ce21a80_2_16:notes"/>
          <p:cNvSpPr/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g3f40ce21a80_2_16:notes"/>
          <p:cNvSpPr txBox="1"/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67" name="Google Shape;67;g3f40ce21a80_2_16:notes"/>
          <p:cNvSpPr txBox="1"/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</a:fld>
            <a:endParaRPr sz="9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af00d6e0_1_1:notes"/>
          <p:cNvSpPr/>
          <p:nvPr>
            <p:ph type="sldImg" idx="2"/>
          </p:nvPr>
        </p:nvSpPr>
        <p:spPr>
          <a:xfrm>
            <a:off x="457200" y="571500"/>
            <a:ext cx="36576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g3fbaf00d6e0_1_1:notes"/>
          <p:cNvSpPr txBox="1"/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75" name="Google Shape;75;g3fbaf00d6e0_1_1:notes"/>
          <p:cNvSpPr txBox="1"/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</a:fld>
            <a:endParaRPr sz="9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af00d6e0_1_8:notes"/>
          <p:cNvSpPr/>
          <p:nvPr>
            <p:ph type="sldImg" idx="2"/>
          </p:nvPr>
        </p:nvSpPr>
        <p:spPr>
          <a:xfrm>
            <a:off x="457200" y="571500"/>
            <a:ext cx="36576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g3fbaf00d6e0_1_8:notes"/>
          <p:cNvSpPr txBox="1"/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83" name="Google Shape;83;g3fbaf00d6e0_1_8:notes"/>
          <p:cNvSpPr txBox="1"/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</a:fld>
            <a:endParaRPr sz="9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af00d6e0_1_15:notes"/>
          <p:cNvSpPr/>
          <p:nvPr>
            <p:ph type="sldImg" idx="2"/>
          </p:nvPr>
        </p:nvSpPr>
        <p:spPr>
          <a:xfrm>
            <a:off x="457200" y="571500"/>
            <a:ext cx="36576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g3fbaf00d6e0_1_15:notes"/>
          <p:cNvSpPr txBox="1"/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91" name="Google Shape;91;g3fbaf00d6e0_1_15:notes"/>
          <p:cNvSpPr txBox="1"/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</a:fld>
            <a:endParaRPr sz="9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2A1509"/>
              </a:gs>
              <a:gs pos="42000">
                <a:srgbClr val="12090A"/>
              </a:gs>
              <a:gs pos="100000">
                <a:srgbClr val="070503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8" name="Google Shape;58;p15"/>
          <p:cNvSpPr/>
          <p:nvPr/>
        </p:nvSpPr>
        <p:spPr>
          <a:xfrm>
            <a:off x="2428875" y="0"/>
            <a:ext cx="4286400" cy="2952900"/>
          </a:xfrm>
          <a:prstGeom prst="rect">
            <a:avLst/>
          </a:prstGeom>
          <a:gradFill>
            <a:gsLst>
              <a:gs pos="0">
                <a:srgbClr val="E8C87A">
                  <a:alpha val="20000"/>
                </a:srgbClr>
              </a:gs>
              <a:gs pos="70000">
                <a:srgbClr val="E8C87A">
                  <a:alpha val="0"/>
                </a:srgbClr>
              </a:gs>
              <a:gs pos="100000">
                <a:srgbClr val="E8C87A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59" name="Google Shape;59;p15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71500" y="457200"/>
            <a:ext cx="1841488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5"/>
          <p:cNvSpPr/>
          <p:nvPr/>
        </p:nvSpPr>
        <p:spPr>
          <a:xfrm>
            <a:off x="571500" y="1768152"/>
            <a:ext cx="6131719" cy="1526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6500"/>
              <a:buFont typeface="Georgia" panose="02040502050405020303"/>
              <a:buNone/>
            </a:pPr>
            <a:r>
              <a:rPr lang="en-GB" sz="6500" b="1" i="0" u="none" strike="noStrike" cap="none">
                <a:solidFill>
                  <a:srgbClr val="F7E4B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HARVEST</a:t>
            </a:r>
            <a:endParaRPr sz="6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571500" y="3638475"/>
            <a:ext cx="571500" cy="4763"/>
          </a:xfrm>
          <a:prstGeom prst="rect">
            <a:avLst/>
          </a:prstGeom>
          <a:gradFill>
            <a:gsLst>
              <a:gs pos="0">
                <a:srgbClr val="D9A94E"/>
              </a:gs>
              <a:gs pos="100000">
                <a:srgbClr val="D9A94E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" name="Google Shape;62;p15"/>
          <p:cNvSpPr/>
          <p:nvPr/>
        </p:nvSpPr>
        <p:spPr>
          <a:xfrm>
            <a:off x="571500" y="4505325"/>
            <a:ext cx="3000249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E7D5"/>
              </a:buClr>
              <a:buSzPts val="1000"/>
              <a:buFont typeface="Arial" panose="020B0604020202020204"/>
              <a:buNone/>
            </a:pPr>
            <a:r>
              <a:rPr lang="en-GB" sz="1000">
                <a:solidFill>
                  <a:srgbClr val="F7E4B0"/>
                </a:solidFill>
              </a:rPr>
              <a:t>Finance the next harvest, privately.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7157777" y="4505325"/>
            <a:ext cx="155619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A45"/>
              </a:buClr>
              <a:buSzPts val="1000"/>
              <a:buFont typeface="Arial" panose="020B0604020202020204"/>
              <a:buNone/>
            </a:pPr>
            <a:r>
              <a:rPr lang="en-GB" sz="1000">
                <a:solidFill>
                  <a:srgbClr val="B08A45"/>
                </a:solidFill>
              </a:rPr>
              <a:t>19-20 September, 2026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0" name="Google Shape;70;p16"/>
          <p:cNvSpPr/>
          <p:nvPr/>
        </p:nvSpPr>
        <p:spPr>
          <a:xfrm>
            <a:off x="571500" y="419100"/>
            <a:ext cx="3293400" cy="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3500"/>
              <a:buFont typeface="Georgia" panose="02040502050405020303"/>
              <a:buNone/>
            </a:pPr>
            <a:r>
              <a:rPr lang="en-GB" sz="3500" b="1" i="0" u="none" strike="noStrike" cap="none">
                <a:solidFill>
                  <a:srgbClr val="F7E4B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The </a:t>
            </a:r>
            <a:r>
              <a:rPr lang="en-GB" sz="3500" b="1">
                <a:solidFill>
                  <a:srgbClr val="F7E4B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Solution</a:t>
            </a:r>
            <a:endParaRPr sz="3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514350" y="1085400"/>
            <a:ext cx="7686600" cy="29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7E4B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Harvest turns a cooperative's private assessment into a fundable public claim.</a:t>
            </a:r>
            <a:endParaRPr sz="1600">
              <a:solidFill>
                <a:srgbClr val="F7E4B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7E4B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3020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600"/>
              <a:buFont typeface="Georgia" panose="02040502050405020303"/>
              <a:buChar char="●"/>
            </a:pPr>
            <a:r>
              <a:rPr lang="en-GB" sz="1600" i="1">
                <a:solidFill>
                  <a:srgbClr val="F7E4B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Prove a threshold: at least 40,000 kg, never the exact 48,500 kg.</a:t>
            </a:r>
            <a:endParaRPr sz="1600" i="1">
              <a:solidFill>
                <a:srgbClr val="F7E4B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3020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600"/>
              <a:buFont typeface="Georgia" panose="02040502050405020303"/>
              <a:buChar char="●"/>
            </a:pPr>
            <a:r>
              <a:rPr lang="en-GB" sz="1600" i="1">
                <a:solidFill>
                  <a:srgbClr val="F7E4B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Investors fund in USDC; escrow sits in a DeFindex vault.</a:t>
            </a:r>
            <a:endParaRPr sz="1600" i="1">
              <a:solidFill>
                <a:srgbClr val="F7E4B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3020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600"/>
              <a:buFont typeface="Georgia" panose="02040502050405020303"/>
              <a:buChar char="●"/>
            </a:pPr>
            <a:r>
              <a:rPr lang="en-GB" sz="1600" i="1">
                <a:solidFill>
                  <a:srgbClr val="F7E4B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Partial funding: draw once the minimum is met, then draw again.</a:t>
            </a:r>
            <a:endParaRPr sz="1600" i="1">
              <a:solidFill>
                <a:srgbClr val="F7E4B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3020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600"/>
              <a:buFont typeface="Georgia" panose="02040502050405020303"/>
              <a:buChar char="●"/>
            </a:pPr>
            <a:r>
              <a:rPr lang="en-GB" sz="1600" i="1">
                <a:solidFill>
                  <a:srgbClr val="F7E4B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Repay, and investors claim pro rata through the contract.</a:t>
            </a:r>
            <a:endParaRPr sz="1600" i="1">
              <a:solidFill>
                <a:srgbClr val="F7E4B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3020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600"/>
              <a:buFont typeface="Georgia" panose="02040502050405020303"/>
              <a:buChar char="●"/>
            </a:pPr>
            <a:r>
              <a:rPr lang="en-GB" sz="1600" i="1">
                <a:solidFill>
                  <a:srgbClr val="F7E4B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Turkish/English UI, wallet kit or WebAuthn passkey accounts.</a:t>
            </a:r>
            <a:endParaRPr sz="1600" i="1">
              <a:solidFill>
                <a:srgbClr val="F7E4B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8" name="Google Shape;78;p17"/>
          <p:cNvSpPr/>
          <p:nvPr/>
        </p:nvSpPr>
        <p:spPr>
          <a:xfrm>
            <a:off x="571500" y="419100"/>
            <a:ext cx="3293400" cy="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3500"/>
              <a:buFont typeface="Georgia" panose="02040502050405020303"/>
              <a:buNone/>
            </a:pPr>
            <a:r>
              <a:rPr lang="en-GB" sz="3500" b="1">
                <a:solidFill>
                  <a:srgbClr val="F7E4B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PMF</a:t>
            </a:r>
            <a:endParaRPr sz="3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514350" y="1085400"/>
            <a:ext cx="7686600" cy="27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F7E4B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Farming has a timing gap: inputs are paid months before the harvest sells.</a:t>
            </a:r>
            <a:endParaRPr sz="1500">
              <a:solidFill>
                <a:srgbClr val="F7E4B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F7E4B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2385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500"/>
              <a:buFont typeface="Georgia" panose="02040502050405020303"/>
              <a:buChar char="●"/>
            </a:pPr>
            <a:r>
              <a:rPr lang="en-GB" sz="1500">
                <a:solidFill>
                  <a:srgbClr val="F7E4B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Proving capacity to a funder usually means disclosing the exact yield.</a:t>
            </a:r>
            <a:endParaRPr sz="1500">
              <a:solidFill>
                <a:srgbClr val="F7E4B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2385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500"/>
              <a:buFont typeface="Georgia" panose="02040502050405020303"/>
              <a:buChar char="●"/>
            </a:pPr>
            <a:r>
              <a:rPr lang="en-GB" sz="1500">
                <a:solidFill>
                  <a:srgbClr val="F7E4B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Those figures are leverage for every buyer who gets to see them.</a:t>
            </a:r>
            <a:endParaRPr sz="1500">
              <a:solidFill>
                <a:srgbClr val="F7E4B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2385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500"/>
              <a:buFont typeface="Georgia" panose="02040502050405020303"/>
              <a:buChar char="●"/>
            </a:pPr>
            <a:r>
              <a:rPr lang="en-GB" sz="1500">
                <a:solidFill>
                  <a:srgbClr val="F7E4B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A claim with no evidence gives investors no reason to commit.</a:t>
            </a:r>
            <a:endParaRPr sz="1500">
              <a:solidFill>
                <a:srgbClr val="F7E4B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2385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500"/>
              <a:buFont typeface="Georgia" panose="02040502050405020303"/>
              <a:buChar char="●"/>
            </a:pPr>
            <a:r>
              <a:rPr lang="en-GB" sz="1500">
                <a:solidFill>
                  <a:srgbClr val="F7E4B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Cooperatives already assess harvests, but that record never reaches capital.</a:t>
            </a:r>
            <a:endParaRPr sz="1500">
              <a:solidFill>
                <a:srgbClr val="F7E4B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F7E4B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F7E4B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Türkiye is the first market; the capacity proof fits any crop or region.</a:t>
            </a:r>
            <a:endParaRPr sz="1500">
              <a:solidFill>
                <a:srgbClr val="F7E4B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6" name="Google Shape;86;p18"/>
          <p:cNvSpPr/>
          <p:nvPr/>
        </p:nvSpPr>
        <p:spPr>
          <a:xfrm>
            <a:off x="571500" y="419100"/>
            <a:ext cx="4953000" cy="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3500"/>
              <a:buFont typeface="Georgia" panose="02040502050405020303"/>
              <a:buNone/>
            </a:pPr>
            <a:r>
              <a:rPr lang="en-GB" sz="3500" b="1">
                <a:solidFill>
                  <a:srgbClr val="F7E4B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Technical Workflow</a:t>
            </a:r>
            <a:endParaRPr sz="3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514350" y="1085400"/>
            <a:ext cx="7686600" cy="30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F7E4B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Proof in the browser, verification on Soroban, escrow in a DeFindex vault.</a:t>
            </a:r>
            <a:endParaRPr sz="1500">
              <a:solidFill>
                <a:srgbClr val="F7E4B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F7E4B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2385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500"/>
              <a:buFont typeface="Georgia" panose="02040502050405020303"/>
              <a:buChar char="●"/>
            </a:pPr>
            <a:r>
              <a:rPr lang="en-GB" sz="1500">
                <a:solidFill>
                  <a:srgbClr val="F7E4B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Cooperative reviews documents and signs an EdDSA-Poseidon credential.</a:t>
            </a:r>
            <a:endParaRPr sz="1500">
              <a:solidFill>
                <a:srgbClr val="F7E4B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2385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500"/>
              <a:buFont typeface="Georgia" panose="02040502050405020303"/>
              <a:buChar char="●"/>
            </a:pPr>
            <a:r>
              <a:rPr lang="en-GB" sz="1500">
                <a:solidFill>
                  <a:srgbClr val="F7E4B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Enrolment circuit proves membership; the registry stores a mask, not papers.</a:t>
            </a:r>
            <a:endParaRPr sz="1500">
              <a:solidFill>
                <a:srgbClr val="F7E4B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2385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500"/>
              <a:buFont typeface="Georgia" panose="02040502050405020303"/>
              <a:buChar char="●"/>
            </a:pPr>
            <a:r>
              <a:rPr lang="en-GB" sz="1500">
                <a:solidFill>
                  <a:srgbClr val="F7E4B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Capacity circuit proves the harvest clears the public threshold, in-browser.</a:t>
            </a:r>
            <a:endParaRPr sz="1500">
              <a:solidFill>
                <a:srgbClr val="F7E4B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2385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500"/>
              <a:buFont typeface="Georgia" panose="02040502050405020303"/>
              <a:buChar char="●"/>
            </a:pPr>
            <a:r>
              <a:rPr lang="en-GB" sz="1500">
                <a:solidFill>
                  <a:srgbClr val="F7E4B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Campaign contract verifies Groth16 on BN254 before a campaign can exist.</a:t>
            </a:r>
            <a:endParaRPr sz="1500">
              <a:solidFill>
                <a:srgbClr val="F7E4B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2385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500"/>
              <a:buFont typeface="Georgia" panose="02040502050405020303"/>
              <a:buChar char="●"/>
            </a:pPr>
            <a:r>
              <a:rPr lang="en-GB" sz="1500">
                <a:solidFill>
                  <a:srgbClr val="F7E4B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Contributions mint DeFindex vault shares; drawdown, repay and claim follow.</a:t>
            </a:r>
            <a:endParaRPr sz="1500">
              <a:solidFill>
                <a:srgbClr val="F7E4B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2385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500"/>
              <a:buFont typeface="Georgia" panose="02040502050405020303"/>
              <a:buChar char="●"/>
            </a:pPr>
            <a:r>
              <a:rPr lang="en-GB" sz="1500">
                <a:solidFill>
                  <a:srgbClr val="F7E4B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SEP-1/6/10/12/38 anchor sandbox handles the TRY deposit and withdrawal leg.</a:t>
            </a:r>
            <a:endParaRPr sz="1500">
              <a:solidFill>
                <a:srgbClr val="F7E4B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19"/>
          <p:cNvSpPr/>
          <p:nvPr/>
        </p:nvSpPr>
        <p:spPr>
          <a:xfrm>
            <a:off x="571500" y="419100"/>
            <a:ext cx="4953000" cy="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3500"/>
              <a:buFont typeface="Georgia" panose="02040502050405020303"/>
              <a:buNone/>
            </a:pPr>
            <a:r>
              <a:rPr lang="en-GB" sz="3500" b="1">
                <a:solidFill>
                  <a:srgbClr val="F7E4B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The Team</a:t>
            </a:r>
            <a:endParaRPr sz="3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" name="Google Shape;95;p19"/>
          <p:cNvSpPr txBox="1"/>
          <p:nvPr/>
        </p:nvSpPr>
        <p:spPr>
          <a:xfrm>
            <a:off x="514350" y="1085400"/>
            <a:ext cx="7686600" cy="247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F7E4B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Harvest was built over the hackathon weekend by three people.</a:t>
            </a:r>
            <a:endParaRPr sz="1500">
              <a:solidFill>
                <a:srgbClr val="F7E4B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F7E4B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2385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500"/>
              <a:buFont typeface="Georgia" panose="02040502050405020303"/>
              <a:buChar char="●"/>
            </a:pPr>
            <a:r>
              <a:rPr lang="en-GB" sz="1500">
                <a:solidFill>
                  <a:srgbClr val="F7E4B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Resul Çetin</a:t>
            </a:r>
            <a:endParaRPr sz="1500">
              <a:solidFill>
                <a:srgbClr val="F7E4B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2385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500"/>
              <a:buFont typeface="Georgia" panose="02040502050405020303"/>
              <a:buChar char="●"/>
            </a:pPr>
            <a:r>
              <a:rPr lang="en-GB" sz="1500">
                <a:solidFill>
                  <a:srgbClr val="F7E4B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Sena</a:t>
            </a:r>
            <a:r>
              <a:rPr lang="tr-TR" altLang="en-GB" sz="1500">
                <a:solidFill>
                  <a:srgbClr val="F7E4B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 Şahin </a:t>
            </a:r>
            <a:endParaRPr lang="tr-TR" altLang="en-GB" sz="1500">
              <a:solidFill>
                <a:srgbClr val="F7E4B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2385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500"/>
              <a:buFont typeface="Georgia" panose="02040502050405020303"/>
              <a:buChar char="●"/>
            </a:pPr>
            <a:r>
              <a:rPr lang="en-GB" sz="1500">
                <a:solidFill>
                  <a:srgbClr val="F7E4B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Yusuf Taha Çime</a:t>
            </a:r>
            <a:r>
              <a:rPr lang="tr-TR" altLang="en-GB" sz="1500">
                <a:solidFill>
                  <a:srgbClr val="F7E4B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n</a:t>
            </a:r>
            <a:endParaRPr sz="1500">
              <a:solidFill>
                <a:srgbClr val="F7E4B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2385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500"/>
              <a:buFont typeface="Georgia" panose="02040502050405020303"/>
              <a:buChar char="●"/>
            </a:pPr>
            <a:endParaRPr sz="1500">
              <a:solidFill>
                <a:srgbClr val="F7E4B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F7E4B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F7E4B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Repository: github.com/ytcsec/Harvest</a:t>
            </a:r>
            <a:endParaRPr sz="1500">
              <a:solidFill>
                <a:srgbClr val="F7E4B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1554</Words>
  <Application>WPS Sunum</Application>
  <PresentationFormat/>
  <Paragraphs>49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SimSun</vt:lpstr>
      <vt:lpstr>Wingdings</vt:lpstr>
      <vt:lpstr>Arial</vt:lpstr>
      <vt:lpstr>Georgia</vt:lpstr>
      <vt:lpstr>Calibri</vt:lpstr>
      <vt:lpstr>Microsoft YaHei</vt:lpstr>
      <vt:lpstr>Arial Unicode MS</vt:lpstr>
      <vt:lpstr>Simple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sena</cp:lastModifiedBy>
  <cp:revision>2</cp:revision>
  <dcterms:created xsi:type="dcterms:W3CDTF">2026-09-20T06:44:00Z</dcterms:created>
  <dcterms:modified xsi:type="dcterms:W3CDTF">2026-09-20T08:21:19Z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A4B7C52635674F779D4BF9821E504A21_12</vt:lpwstr>
  </property>
  <property fmtid="{D5CDD505-2E9C-101B-9397-08002B2CF9AE}" pid="3" name="KSOProductBuildVer">
    <vt:lpwstr>1055-12.1.0.28485</vt:lpwstr>
  </property>
</Properties>
</file>